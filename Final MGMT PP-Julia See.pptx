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2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C4F9-5EE7-47B7-B965-368EB53A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181099"/>
            <a:ext cx="6864724" cy="3581399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4A1F1-374F-4FC8-89F7-83065EA4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075227"/>
            <a:ext cx="6864724" cy="86837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CB5F-AE9B-4C02-B16F-C462CAFC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B1CC-830B-4695-B174-D9E9100A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D43F-E516-4123-A6D8-DB72C3C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2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96BE-9AF9-4E97-9204-5B672D79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62200"/>
            <a:ext cx="7696200" cy="24003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F98A-E8AE-4443-9A8C-CB35DEB2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067300"/>
            <a:ext cx="7696200" cy="876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114B-35CB-40C5-BCC8-C5039524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A324-982E-42C4-8002-5F236877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1596-9353-4C1A-972E-6522F2B4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42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0BC9-7469-437A-B92B-0A2627E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D887-595C-4649-AF8E-E78307000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25625"/>
            <a:ext cx="4991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FE29C-ED37-4DD9-949F-002434261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029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AA34-8CC0-4E5B-8396-0AC75633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F7398-73FE-4D27-AFF9-91BEBFED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00880-10EE-4115-8BBB-13DDF270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6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C9B-D20D-43FA-BA18-D50F86A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699"/>
            <a:ext cx="10625229" cy="11506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F00A-F4EE-40FC-9325-373840422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863" y="1879599"/>
            <a:ext cx="5157787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5DD90-A306-4A8B-A54C-8033B7F7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863" y="2560955"/>
            <a:ext cx="5157787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0E0AA-F8F8-4862-B27B-50FAF2F3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12" y="1879599"/>
            <a:ext cx="5183188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EBDD6-EDA1-4CE7-9DDC-9D977E12D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412" y="2560955"/>
            <a:ext cx="5183188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44487-D350-4434-A5C7-A96942FF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9DC43-E591-42BF-82EE-E4887E4B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CD421-2D00-41DD-A393-4739E38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5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A8B-0FAF-431C-9657-9003FA03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BA2A1-331D-40F8-867B-CE150113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995C1-5121-47B6-AC6D-F60C0FF6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E022-9B54-431C-80D5-5D8F2AFC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4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5B6E5-6347-41F6-85FC-3BF3652D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A93F6-45F8-4453-B5DC-B2F3D5D0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64E1-213B-4AF0-80D7-8101EFD5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9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B5D-E76D-4797-AD77-15625D67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4D8D-C9CF-43B2-905D-2368B17A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188" y="914400"/>
            <a:ext cx="5737412" cy="50291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4BF0C-D14C-46D7-ACDD-1885DDD88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79"/>
            <a:ext cx="4119654" cy="3246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7D8D-72E7-4ABD-BB87-80BB4900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9C1CE-C8CE-4364-A021-ADC2D647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6FA33-09EF-495A-853E-63750CA3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9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023E-952E-40DF-A101-74D22789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E98DD-BF5D-4CCA-8C66-F2A6CE11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86400" y="914400"/>
            <a:ext cx="5791200" cy="50291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22A6-F2C2-4A88-BEE5-2D6CEB52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80"/>
            <a:ext cx="4119654" cy="31715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1F755-C7AF-4C50-8CA8-828612A7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E175-E818-477C-A3F6-7DD65C12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B8E3-DB91-440B-818F-71E4248B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2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C0AF-44D0-4830-AF13-49B8522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B4D8C-6045-47B3-9A0C-F2215A904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A9F1-F398-416A-A8C0-0A36D838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F801-C9FB-4A34-8386-BA9FBACC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5176-F6E9-4997-8355-74F2A456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9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BC807-13E1-4F3F-83FA-FD9BD24F3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86520" y="647699"/>
            <a:ext cx="229108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E2EAA-155E-482E-A2B8-547653B2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2371" y="647699"/>
            <a:ext cx="8120789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4BDC-BDD0-417D-AF7C-516EE556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63EC-23F9-4202-80F3-F8E55088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402D-7367-485B-AEA6-5AB2B820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5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EB7D6-B8CB-49E3-874F-2255BEE8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EEAC5-A8AB-4FE8-A270-D70F7DED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506C-52BF-4C05-AD31-7C08B8015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10/16/23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4630-6C67-4A40-A499-CB025B243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4E14B-0EE8-4015-809C-DD36B5459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5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 cap="all" spc="300" baseline="0">
          <a:solidFill>
            <a:srgbClr val="FFFFFF"/>
          </a:solidFill>
          <a:highlight>
            <a:srgbClr val="0000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olorful smoke">
            <a:extLst>
              <a:ext uri="{FF2B5EF4-FFF2-40B4-BE49-F238E27FC236}">
                <a16:creationId xmlns:a16="http://schemas.microsoft.com/office/drawing/2014/main" id="{2B4D6ED3-0471-E48D-CFD4-6C89E565F1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34" r="2" b="2"/>
          <a:stretch/>
        </p:blipFill>
        <p:spPr>
          <a:xfrm>
            <a:off x="-12" y="-3"/>
            <a:ext cx="8153400" cy="5067302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6305D1-B90E-82EF-FEA3-818C364A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2362200"/>
            <a:ext cx="6085609" cy="2037413"/>
          </a:xfrm>
        </p:spPr>
        <p:txBody>
          <a:bodyPr anchor="b">
            <a:normAutofit/>
          </a:bodyPr>
          <a:lstStyle/>
          <a:p>
            <a:r>
              <a:rPr lang="en-US" dirty="0"/>
              <a:t>Tabasco Sauce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10A34-96F7-0578-3D51-F45157F6D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570591"/>
            <a:ext cx="10629900" cy="564596"/>
          </a:xfrm>
        </p:spPr>
        <p:txBody>
          <a:bodyPr anchor="ctr">
            <a:normAutofit/>
          </a:bodyPr>
          <a:lstStyle/>
          <a:p>
            <a:r>
              <a:rPr lang="en-US" dirty="0"/>
              <a:t>By: Julia See</a:t>
            </a:r>
          </a:p>
        </p:txBody>
      </p:sp>
      <p:pic>
        <p:nvPicPr>
          <p:cNvPr id="4098" name="Picture 2" descr="The Definitive Ranking of Every Tabasco Flavor">
            <a:extLst>
              <a:ext uri="{FF2B5EF4-FFF2-40B4-BE49-F238E27FC236}">
                <a16:creationId xmlns:a16="http://schemas.microsoft.com/office/drawing/2014/main" id="{073212C1-07E2-6AF2-81F3-0516A4A4B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6" r="26027" b="2"/>
          <a:stretch/>
        </p:blipFill>
        <p:spPr bwMode="auto">
          <a:xfrm>
            <a:off x="8186050" y="1"/>
            <a:ext cx="4005887" cy="506730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Date Placeholder 5">
            <a:extLst>
              <a:ext uri="{FF2B5EF4-FFF2-40B4-BE49-F238E27FC236}">
                <a16:creationId xmlns:a16="http://schemas.microsoft.com/office/drawing/2014/main" id="{04E35474-1A9A-4F0C-82BB-186980BF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371" y="6332538"/>
            <a:ext cx="30064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EC5B1C3-4738-4A7B-BF5B-2632B7DFFF51}" type="datetime1">
              <a:rPr lang="en-US" smtClean="0"/>
              <a:pPr>
                <a:spcAft>
                  <a:spcPts val="600"/>
                </a:spcAft>
              </a:pPr>
              <a:t>10/17/23</a:t>
            </a:fld>
            <a:endParaRPr lang="en-US"/>
          </a:p>
        </p:txBody>
      </p:sp>
      <p:sp>
        <p:nvSpPr>
          <p:cNvPr id="4105" name="Footer Placeholder 6">
            <a:extLst>
              <a:ext uri="{FF2B5EF4-FFF2-40B4-BE49-F238E27FC236}">
                <a16:creationId xmlns:a16="http://schemas.microsoft.com/office/drawing/2014/main" id="{11199D09-9DAC-4D8F-8067-411B9B5FC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4169" y="6332538"/>
            <a:ext cx="350545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4107" name="Slide Number Placeholder 8">
            <a:extLst>
              <a:ext uri="{FF2B5EF4-FFF2-40B4-BE49-F238E27FC236}">
                <a16:creationId xmlns:a16="http://schemas.microsoft.com/office/drawing/2014/main" id="{4643FDF9-4F10-41D0-B36B-A0E7E181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747" y="6332538"/>
            <a:ext cx="53980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5C5C030-0550-4584-9C82-E35DF7DBC581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3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DEBD-35DB-E109-3DF1-9DE0C9B1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4787709" cy="1447801"/>
          </a:xfrm>
        </p:spPr>
        <p:txBody>
          <a:bodyPr anchor="b"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4CD2-882E-945D-9138-2953A5585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2" y="2514600"/>
            <a:ext cx="4787710" cy="36956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dirty="0"/>
              <a:t>Founded in Avery Island, Louisiana n 1868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Every botte is made in the U.S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Edmund </a:t>
            </a:r>
            <a:r>
              <a:rPr lang="en-US" sz="1500" dirty="0" err="1"/>
              <a:t>Mcllhenny</a:t>
            </a:r>
            <a:r>
              <a:rPr lang="en-US" sz="1500" dirty="0"/>
              <a:t> cultivated tobacco, developed a recipe and began bottling 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Quickly grew in the southern U.S during the 19</a:t>
            </a:r>
            <a:r>
              <a:rPr lang="en-US" sz="1500" baseline="30000" dirty="0"/>
              <a:t>th</a:t>
            </a:r>
            <a:r>
              <a:rPr lang="en-US" sz="1500" dirty="0"/>
              <a:t> century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Once </a:t>
            </a:r>
            <a:r>
              <a:rPr lang="en-US" sz="1500" dirty="0" err="1"/>
              <a:t>Mcllhenny</a:t>
            </a:r>
            <a:r>
              <a:rPr lang="en-US" sz="1500" dirty="0"/>
              <a:t> died in 1890, his son took the business and helped the company into a leading condiment manufacturer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Still distributed and owned by the </a:t>
            </a:r>
            <a:r>
              <a:rPr lang="en-US" sz="1500" dirty="0" err="1"/>
              <a:t>Mcllhenny</a:t>
            </a:r>
            <a:r>
              <a:rPr lang="en-US" sz="1500" dirty="0"/>
              <a:t> family 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Been around for 153 years</a:t>
            </a:r>
          </a:p>
        </p:txBody>
      </p:sp>
      <p:pic>
        <p:nvPicPr>
          <p:cNvPr id="1026" name="Picture 2" descr="upload.wikimedia.org/wikipedia/commons/8/80/Tabasc...">
            <a:extLst>
              <a:ext uri="{FF2B5EF4-FFF2-40B4-BE49-F238E27FC236}">
                <a16:creationId xmlns:a16="http://schemas.microsoft.com/office/drawing/2014/main" id="{F4A12A93-597F-3E36-CAC7-7DBF92B97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1287" y="817493"/>
            <a:ext cx="5223013" cy="522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A9483B01-3D08-4B25-91EA-456B29BB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591" y="6332538"/>
            <a:ext cx="299827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8DED8ED-8F31-468F-AEE3-83AA769F2FC4}" type="datetime1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10/16/23</a:t>
            </a:fld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404A6FB0-C4C4-40E5-BB62-E4A7BEB1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4169" y="6332538"/>
            <a:ext cx="35054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4703DF00-2EC1-47AA-99E2-71CE9A49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747" y="6332538"/>
            <a:ext cx="5398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5C5C030-0550-4584-9C82-E35DF7DBC581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0297-1340-6C72-2B4F-3BE7353F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508060"/>
            <a:ext cx="5181601" cy="1451035"/>
          </a:xfrm>
        </p:spPr>
        <p:txBody>
          <a:bodyPr anchor="b">
            <a:normAutofit/>
          </a:bodyPr>
          <a:lstStyle/>
          <a:p>
            <a:r>
              <a:rPr lang="en-US" dirty="0"/>
              <a:t>Leading </a:t>
            </a:r>
          </a:p>
        </p:txBody>
      </p:sp>
      <p:pic>
        <p:nvPicPr>
          <p:cNvPr id="5" name="Picture 4" descr="Puzzle pieces">
            <a:extLst>
              <a:ext uri="{FF2B5EF4-FFF2-40B4-BE49-F238E27FC236}">
                <a16:creationId xmlns:a16="http://schemas.microsoft.com/office/drawing/2014/main" id="{19EA8386-95FD-EA05-2DA9-2D2E3BC05E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57" r="10540"/>
          <a:stretch/>
        </p:blipFill>
        <p:spPr>
          <a:xfrm>
            <a:off x="647700" y="1209329"/>
            <a:ext cx="4759978" cy="4439342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B9BD-AB30-D798-85CC-6DBF0CB90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209329"/>
            <a:ext cx="5181600" cy="49200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family business, but not every family member is involved</a:t>
            </a:r>
          </a:p>
          <a:p>
            <a:r>
              <a:rPr lang="en-US" sz="2000" dirty="0"/>
              <a:t>Only hires family members they think they can run the business</a:t>
            </a:r>
          </a:p>
          <a:p>
            <a:r>
              <a:rPr lang="en-US" sz="2000" dirty="0"/>
              <a:t> Strategy: help</a:t>
            </a:r>
            <a:r>
              <a:rPr lang="en-US" dirty="0"/>
              <a:t>s manage performance, guide actions, devise different tactics</a:t>
            </a:r>
          </a:p>
          <a:p>
            <a:r>
              <a:rPr lang="en-US" dirty="0"/>
              <a:t>Participative leadership style </a:t>
            </a:r>
          </a:p>
          <a:p>
            <a:r>
              <a:rPr lang="en-US" dirty="0"/>
              <a:t>Able to engage/involve its employees in decision making processes and managerial decisions </a:t>
            </a:r>
          </a:p>
          <a:p>
            <a:r>
              <a:rPr lang="en-US" dirty="0"/>
              <a:t>Style is very effective for achieving goals and vision of organization</a:t>
            </a:r>
          </a:p>
          <a:p>
            <a:r>
              <a:rPr lang="en-US" dirty="0"/>
              <a:t>Able to identity current and potential conflicts and actively work to resolve them </a:t>
            </a:r>
          </a:p>
          <a:p>
            <a:r>
              <a:rPr lang="en-US" dirty="0"/>
              <a:t>Ensures all systems are allocated with resources and set targets to achieve business goals</a:t>
            </a:r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A9483B01-3D08-4B25-91EA-456B29BB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371" y="6332538"/>
            <a:ext cx="300649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8DED8ED-8F31-468F-AEE3-83AA769F2FC4}" type="datetime1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10/16/23</a:t>
            </a:fld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404A6FB0-C4C4-40E5-BB62-E4A7BEB1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4169" y="6332538"/>
            <a:ext cx="35054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4703DF00-2EC1-47AA-99E2-71CE9A49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747" y="6332538"/>
            <a:ext cx="5398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5C5C030-0550-4584-9C82-E35DF7DBC58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4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6709-4862-DA48-3A82-D48E8B04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2" y="914399"/>
            <a:ext cx="4787709" cy="1447801"/>
          </a:xfrm>
        </p:spPr>
        <p:txBody>
          <a:bodyPr anchor="b">
            <a:normAutofit/>
          </a:bodyPr>
          <a:lstStyle/>
          <a:p>
            <a:r>
              <a:rPr lang="en-US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0E8C-B845-CA77-FFE3-70C05BA8C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1" y="2539156"/>
            <a:ext cx="4787710" cy="3325430"/>
          </a:xfrm>
        </p:spPr>
        <p:txBody>
          <a:bodyPr>
            <a:normAutofit fontScale="85000" lnSpcReduction="20000"/>
          </a:bodyPr>
          <a:lstStyle/>
          <a:p>
            <a:r>
              <a:rPr lang="en-US" sz="1900" dirty="0"/>
              <a:t>Guide behavior- helps the business guide employees, staff behavior towards the attainment and achievement of goals </a:t>
            </a:r>
          </a:p>
          <a:p>
            <a:r>
              <a:rPr lang="en-US" sz="1900" dirty="0"/>
              <a:t>Takes into consideration to the activities of their competitors</a:t>
            </a:r>
          </a:p>
          <a:p>
            <a:r>
              <a:rPr lang="en-US" sz="1900" dirty="0"/>
              <a:t>Considers the customer trends and demands, as well as the evolving consumer market patterns </a:t>
            </a:r>
          </a:p>
          <a:p>
            <a:r>
              <a:rPr lang="en-US" sz="1900" dirty="0"/>
              <a:t>Ensures that all job tasks and roles are aligned with core values</a:t>
            </a:r>
          </a:p>
          <a:p>
            <a:r>
              <a:rPr lang="en-US" sz="1900" dirty="0"/>
              <a:t>Ensures a consistent, reliable, brand image, and an honest organizational culture 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EAA85B83-ADCA-FD0E-E851-D5700EB8BB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428" b="-1"/>
          <a:stretch/>
        </p:blipFill>
        <p:spPr>
          <a:xfrm>
            <a:off x="6321287" y="993414"/>
            <a:ext cx="5223013" cy="4871172"/>
          </a:xfrm>
          <a:prstGeom prst="rect">
            <a:avLst/>
          </a:prstGeom>
          <a:noFill/>
        </p:spPr>
      </p:pic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A9483B01-3D08-4B25-91EA-456B29BB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591" y="6332538"/>
            <a:ext cx="299827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8DED8ED-8F31-468F-AEE3-83AA769F2FC4}" type="datetime1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10/17/23</a:t>
            </a:fld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404A6FB0-C4C4-40E5-BB62-E4A7BEB1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4169" y="6332538"/>
            <a:ext cx="35054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4703DF00-2EC1-47AA-99E2-71CE9A49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747" y="6332538"/>
            <a:ext cx="5398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5C5C030-0550-4584-9C82-E35DF7DBC58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32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puzzle with one red piece">
            <a:extLst>
              <a:ext uri="{FF2B5EF4-FFF2-40B4-BE49-F238E27FC236}">
                <a16:creationId xmlns:a16="http://schemas.microsoft.com/office/drawing/2014/main" id="{BEE0F478-1E95-20D0-AF8C-DAEECDC478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46" r="19042"/>
          <a:stretch/>
        </p:blipFill>
        <p:spPr>
          <a:xfrm>
            <a:off x="20" y="10"/>
            <a:ext cx="7353280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4F96F4-3B4A-5A4B-A1FF-E9EE5F9F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2362201"/>
            <a:ext cx="4413532" cy="3848100"/>
          </a:xfrm>
        </p:spPr>
        <p:txBody>
          <a:bodyPr anchor="b">
            <a:normAutofit/>
          </a:bodyPr>
          <a:lstStyle/>
          <a:p>
            <a:r>
              <a:rPr lang="en-US"/>
              <a:t>organiznig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BC28F-7E9A-C0EB-F91B-1D293DB7F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1" y="914400"/>
            <a:ext cx="31623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500" dirty="0" err="1"/>
              <a:t>Mcllhenny</a:t>
            </a:r>
            <a:r>
              <a:rPr lang="en-US" sz="1500" dirty="0"/>
              <a:t> took over the product in 1870, by the end of the decade the sauce was being sold as far as England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Being flexible and adaptable- able to quickly react and respond to change consumer patterns globally, also able to locally and culturally adapt its product for different countries and regions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Structure- organizational hierarchy allows quicker decision-making processes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Communication enhances the overall organization structure- allows easy flow of information 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Well-demarked system to ensure business operations are managed effectively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A9483B01-3D08-4B25-91EA-456B29BB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371" y="6332538"/>
            <a:ext cx="30064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8DED8ED-8F31-468F-AEE3-83AA769F2FC4}" type="datetime1">
              <a:rPr lang="en-US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10/17/23</a:t>
            </a:fld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404A6FB0-C4C4-40E5-BB62-E4A7BEB1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4169" y="6332538"/>
            <a:ext cx="350545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4703DF00-2EC1-47AA-99E2-71CE9A49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747" y="6332538"/>
            <a:ext cx="53980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5C5C030-0550-4584-9C82-E35DF7DBC581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2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318E1-2BEF-7287-0142-6993BDCC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1" y="-271464"/>
            <a:ext cx="4787709" cy="1447801"/>
          </a:xfrm>
        </p:spPr>
        <p:txBody>
          <a:bodyPr anchor="b">
            <a:normAutofit/>
          </a:bodyPr>
          <a:lstStyle/>
          <a:p>
            <a:r>
              <a:rPr lang="en-US" dirty="0"/>
              <a:t>controlling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6D78D-02CE-8964-2A22-1BFBCEE52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1" y="1841408"/>
            <a:ext cx="4787710" cy="438794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High coordination between different departments- effective and organized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Encourages teamwork and team-oriented tasks 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Makes sure that supervisors oversee, approve of efforts and tactics employees choose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Each of the demarcated systems has tools and methods as controls for evaluating performance and attaining goals 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Continually evaluates its systems through observations and informal discussions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Feed back is given regularly and is required, as formal evaluation is semi-annually  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  <p:pic>
        <p:nvPicPr>
          <p:cNvPr id="3074" name="Picture 2" descr="The Control Function of Management">
            <a:extLst>
              <a:ext uri="{FF2B5EF4-FFF2-40B4-BE49-F238E27FC236}">
                <a16:creationId xmlns:a16="http://schemas.microsoft.com/office/drawing/2014/main" id="{BBC7D832-3377-0DF5-F94D-B2F969E24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1287" y="1691161"/>
            <a:ext cx="5223013" cy="347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90EBB63-6737-44F0-8650-BF095B60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591" y="6332538"/>
            <a:ext cx="299827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4363AB2-6EEA-4557-B66E-C3DD8B42DE68}" type="datetime1">
              <a:rPr lang="en-US" smtClean="0"/>
              <a:pPr>
                <a:spcAft>
                  <a:spcPts val="600"/>
                </a:spcAft>
              </a:pPr>
              <a:t>10/17/23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DEA55D3-9E3C-420C-AD74-64269951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4169" y="6332538"/>
            <a:ext cx="35054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F6C2FC2-1EAC-4A19-915E-364DE8BC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747" y="6332538"/>
            <a:ext cx="5398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5C5C030-0550-4584-9C82-E35DF7DBC581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85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3030C083-7BDA-4E25-BFBB-C9679AF2C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15.4 Types and Levels of Control – Principles of Management">
            <a:extLst>
              <a:ext uri="{FF2B5EF4-FFF2-40B4-BE49-F238E27FC236}">
                <a16:creationId xmlns:a16="http://schemas.microsoft.com/office/drawing/2014/main" id="{67DBAC14-DFAA-0919-A96B-EAEE746E2C1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1438" y="647700"/>
            <a:ext cx="4059238" cy="4037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f you ain't got the right questions…">
            <a:extLst>
              <a:ext uri="{FF2B5EF4-FFF2-40B4-BE49-F238E27FC236}">
                <a16:creationId xmlns:a16="http://schemas.microsoft.com/office/drawing/2014/main" id="{59664FD6-B60B-17B9-700B-E607DF535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4752975"/>
            <a:ext cx="1457325" cy="1457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Effective Questioning Techniques - IEEE-USA InSight">
            <a:extLst>
              <a:ext uri="{FF2B5EF4-FFF2-40B4-BE49-F238E27FC236}">
                <a16:creationId xmlns:a16="http://schemas.microsoft.com/office/drawing/2014/main" id="{AA522F47-E28C-6091-7E68-67E579742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4752975"/>
            <a:ext cx="2535238" cy="1457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Title 1">
            <a:extLst>
              <a:ext uri="{FF2B5EF4-FFF2-40B4-BE49-F238E27FC236}">
                <a16:creationId xmlns:a16="http://schemas.microsoft.com/office/drawing/2014/main" id="{DAB44C19-C0A8-477D-BB59-820F211FB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2114" y="-1283320"/>
            <a:ext cx="4462732" cy="3345481"/>
          </a:xfrm>
        </p:spPr>
        <p:txBody>
          <a:bodyPr>
            <a:normAutofit/>
          </a:bodyPr>
          <a:lstStyle/>
          <a:p>
            <a:r>
              <a:rPr lang="en-US" dirty="0"/>
              <a:t>Question </a:t>
            </a:r>
          </a:p>
        </p:txBody>
      </p:sp>
      <p:sp>
        <p:nvSpPr>
          <p:cNvPr id="2057" name="Subtitle 2">
            <a:extLst>
              <a:ext uri="{FF2B5EF4-FFF2-40B4-BE49-F238E27FC236}">
                <a16:creationId xmlns:a16="http://schemas.microsoft.com/office/drawing/2014/main" id="{74721122-89F8-4D30-96AD-AD3C42036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4868" y="2428876"/>
            <a:ext cx="4462732" cy="3514726"/>
          </a:xfrm>
        </p:spPr>
        <p:txBody>
          <a:bodyPr>
            <a:normAutofit/>
          </a:bodyPr>
          <a:lstStyle/>
          <a:p>
            <a:r>
              <a:rPr lang="en-US" dirty="0"/>
              <a:t>The Tabasco company uses a little of each intertwining with one another, which one of the 4 components of the management styles do you think Tabasco executes the best? Why?</a:t>
            </a:r>
          </a:p>
          <a:p>
            <a:endParaRPr lang="en-US" dirty="0"/>
          </a:p>
          <a:p>
            <a:r>
              <a:rPr lang="en-US" dirty="0"/>
              <a:t>Which one of the 4 do you think is most effective given how global, and big this company is? Why? </a:t>
            </a:r>
          </a:p>
        </p:txBody>
      </p:sp>
      <p:sp>
        <p:nvSpPr>
          <p:cNvPr id="2059" name="Date Placeholder 3">
            <a:extLst>
              <a:ext uri="{FF2B5EF4-FFF2-40B4-BE49-F238E27FC236}">
                <a16:creationId xmlns:a16="http://schemas.microsoft.com/office/drawing/2014/main" id="{86FBCF00-5BD9-4404-ADD1-79126E75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371" y="6332538"/>
            <a:ext cx="300649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7CCFFEB-476C-4C7B-A18E-7186B0DB1D22}" type="datetime1">
              <a:rPr lang="en-US" smtClean="0"/>
              <a:pPr>
                <a:spcAft>
                  <a:spcPts val="600"/>
                </a:spcAft>
              </a:pPr>
              <a:t>10/17/23</a:t>
            </a:fld>
            <a:endParaRPr lang="en-US" dirty="0"/>
          </a:p>
        </p:txBody>
      </p:sp>
      <p:sp>
        <p:nvSpPr>
          <p:cNvPr id="2061" name="Footer Placeholder 4">
            <a:extLst>
              <a:ext uri="{FF2B5EF4-FFF2-40B4-BE49-F238E27FC236}">
                <a16:creationId xmlns:a16="http://schemas.microsoft.com/office/drawing/2014/main" id="{97F641BA-3926-409B-86FB-4880BC45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4169" y="6332538"/>
            <a:ext cx="35054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2063" name="Slide Number Placeholder 5">
            <a:extLst>
              <a:ext uri="{FF2B5EF4-FFF2-40B4-BE49-F238E27FC236}">
                <a16:creationId xmlns:a16="http://schemas.microsoft.com/office/drawing/2014/main" id="{56521AEE-F472-4ED9-82B3-4E0791BB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747" y="6332538"/>
            <a:ext cx="5398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5C5C030-0550-4584-9C82-E35DF7DBC581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10419"/>
      </p:ext>
    </p:extLst>
  </p:cSld>
  <p:clrMapOvr>
    <a:masterClrMapping/>
  </p:clrMapOvr>
</p:sld>
</file>

<file path=ppt/theme/theme1.xml><?xml version="1.0" encoding="utf-8"?>
<a:theme xmlns:a="http://schemas.openxmlformats.org/drawingml/2006/main" name="CitationVTI">
  <a:themeElements>
    <a:clrScheme name="AnalogousFromDarkSeedLeftStep">
      <a:dk1>
        <a:srgbClr val="000000"/>
      </a:dk1>
      <a:lt1>
        <a:srgbClr val="FFFFFF"/>
      </a:lt1>
      <a:dk2>
        <a:srgbClr val="3D3122"/>
      </a:dk2>
      <a:lt2>
        <a:srgbClr val="E7E2E8"/>
      </a:lt2>
      <a:accent1>
        <a:srgbClr val="5CB346"/>
      </a:accent1>
      <a:accent2>
        <a:srgbClr val="83B03A"/>
      </a:accent2>
      <a:accent3>
        <a:srgbClr val="A8A442"/>
      </a:accent3>
      <a:accent4>
        <a:srgbClr val="B17B3B"/>
      </a:accent4>
      <a:accent5>
        <a:srgbClr val="C35C4D"/>
      </a:accent5>
      <a:accent6>
        <a:srgbClr val="B13B5D"/>
      </a:accent6>
      <a:hlink>
        <a:srgbClr val="BF653F"/>
      </a:hlink>
      <a:folHlink>
        <a:srgbClr val="7F7F7F"/>
      </a:folHlink>
    </a:clrScheme>
    <a:fontScheme name="Grandview">
      <a:majorFont>
        <a:latin typeface="Grandview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VTI" id="{4899D957-8B31-4AB5-A19D-CB0353FFB667}" vid="{430294D6-2412-4BD3-B567-F0976EA493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480</Words>
  <Application>Microsoft Macintosh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Grandview</vt:lpstr>
      <vt:lpstr>Grandview Display</vt:lpstr>
      <vt:lpstr>CitationVTI</vt:lpstr>
      <vt:lpstr>Tabasco Sauce </vt:lpstr>
      <vt:lpstr>Background</vt:lpstr>
      <vt:lpstr>Leading </vt:lpstr>
      <vt:lpstr>planning</vt:lpstr>
      <vt:lpstr>organiznig</vt:lpstr>
      <vt:lpstr>controlling</vt:lpstr>
      <vt:lpstr>Question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Tabasco Sauce </dc:title>
  <dc:creator>Julia See</dc:creator>
  <cp:lastModifiedBy>Julia See</cp:lastModifiedBy>
  <cp:revision>2</cp:revision>
  <dcterms:created xsi:type="dcterms:W3CDTF">2023-10-17T00:08:43Z</dcterms:created>
  <dcterms:modified xsi:type="dcterms:W3CDTF">2023-10-17T14:25:21Z</dcterms:modified>
</cp:coreProperties>
</file>